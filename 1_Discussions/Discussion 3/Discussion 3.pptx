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hIXuMzlNdDRWo+CKJieICihStF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F8066E-9D5C-4454-8B6A-CDA5B02C960D}">
  <a:tblStyle styleId="{6DF8066E-9D5C-4454-8B6A-CDA5B02C960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f2acdfc71_0_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g27f2acdfc71_0_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ff6df6aca_1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g2fff6df6aca_1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f2acdfc71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g27f2acdfc71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55707d8019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g155707d8019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f2acdfc71_0_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g27f2acdfc71_0_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f8e42ad424_0_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g1f8e42ad424_0_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6c2704d63_2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b6c2704d63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869659c2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g1f869659c20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f869659c20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g1f869659c20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f869659c20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g1f869659c20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8aa90388a4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g28aa90388a4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ff6df6aca_1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g2fff6df6aca_1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f2acdfc71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g27f2acdfc71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7f2acdfc71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g27f2acdfc71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bb23f10ebf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gbb23f10ebf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bb23f10eb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gbb23f10ebf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f10f51d7c8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gf10f51d7c8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" type="body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" type="body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2" type="body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" type="body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2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None/>
              <a:defRPr/>
            </a:lvl1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hasCustomPrompt="1" type="title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4294967295" type="ctrTitle"/>
          </p:nvPr>
        </p:nvSpPr>
        <p:spPr>
          <a:xfrm>
            <a:off x="311707" y="13267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</a:pPr>
            <a:r>
              <a:rPr b="1" i="0" lang="en-US" sz="5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 201 Discussion 3:</a:t>
            </a:r>
            <a:endParaRPr b="1" i="0" sz="2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Terminal, Git, and Rectangles</a:t>
            </a:r>
            <a:endParaRPr b="0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f2acdfc71_0_46"/>
          <p:cNvSpPr txBox="1"/>
          <p:nvPr>
            <p:ph type="title"/>
          </p:nvPr>
        </p:nvSpPr>
        <p:spPr>
          <a:xfrm>
            <a:off x="311699" y="2150849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6000">
                <a:latin typeface="Roboto"/>
                <a:ea typeface="Roboto"/>
                <a:cs typeface="Roboto"/>
                <a:sym typeface="Roboto"/>
              </a:rPr>
              <a:t>The Terminal</a:t>
            </a:r>
            <a:endParaRPr b="1" sz="6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ff6df6aca_1_1"/>
          <p:cNvSpPr txBox="1"/>
          <p:nvPr>
            <p:ph type="title"/>
          </p:nvPr>
        </p:nvSpPr>
        <p:spPr>
          <a:xfrm>
            <a:off x="311699" y="339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1428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The Terminal  - Command Line Interface (CLI)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g2fff6df6aca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288" y="912075"/>
            <a:ext cx="3499895" cy="3581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g2fff6df6aca_1_1"/>
          <p:cNvPicPr preferRelativeResize="0"/>
          <p:nvPr/>
        </p:nvPicPr>
        <p:blipFill rotWithShape="1">
          <a:blip r:embed="rId4">
            <a:alphaModFix/>
          </a:blip>
          <a:srcRect b="0" l="0" r="53665" t="0"/>
          <a:stretch/>
        </p:blipFill>
        <p:spPr>
          <a:xfrm>
            <a:off x="4570711" y="917604"/>
            <a:ext cx="3689002" cy="358172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2fff6df6aca_1_1"/>
          <p:cNvSpPr txBox="1"/>
          <p:nvPr/>
        </p:nvSpPr>
        <p:spPr>
          <a:xfrm>
            <a:off x="2861550" y="4591800"/>
            <a:ext cx="34209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VS Code Integrated Terminal</a:t>
            </a:r>
            <a:endParaRPr b="0" i="0" sz="1800" u="none" cap="none" strike="noStrike">
              <a:solidFill>
                <a:srgbClr val="5858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2fff6df6aca_1_1"/>
          <p:cNvSpPr/>
          <p:nvPr/>
        </p:nvSpPr>
        <p:spPr>
          <a:xfrm>
            <a:off x="1513300" y="3835175"/>
            <a:ext cx="1674300" cy="2013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2fff6df6aca_1_1"/>
          <p:cNvSpPr/>
          <p:nvPr/>
        </p:nvSpPr>
        <p:spPr>
          <a:xfrm>
            <a:off x="6314650" y="977150"/>
            <a:ext cx="825000" cy="2013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f2acdfc71_0_5"/>
          <p:cNvSpPr txBox="1"/>
          <p:nvPr>
            <p:ph type="title"/>
          </p:nvPr>
        </p:nvSpPr>
        <p:spPr>
          <a:xfrm>
            <a:off x="311699" y="339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1428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The Terminal - Graphical User interface (GUI)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g27f2acdfc71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5449" y="1168975"/>
            <a:ext cx="4993100" cy="3366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27f2acdfc71_0_5"/>
          <p:cNvSpPr txBox="1"/>
          <p:nvPr/>
        </p:nvSpPr>
        <p:spPr>
          <a:xfrm>
            <a:off x="6158238" y="3498050"/>
            <a:ext cx="2728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55707d8019_0_5"/>
          <p:cNvSpPr txBox="1"/>
          <p:nvPr>
            <p:ph type="title"/>
          </p:nvPr>
        </p:nvSpPr>
        <p:spPr>
          <a:xfrm>
            <a:off x="311699" y="2150849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6000">
                <a:latin typeface="Roboto"/>
                <a:ea typeface="Roboto"/>
                <a:cs typeface="Roboto"/>
                <a:sym typeface="Roboto"/>
              </a:rPr>
              <a:t>Git &amp; Github</a:t>
            </a:r>
            <a:endParaRPr b="1" sz="6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f2acdfc71_0_53"/>
          <p:cNvSpPr txBox="1"/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1428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Typical Git Flow - will need it for future assignments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27f2acdfc71_0_53"/>
          <p:cNvSpPr txBox="1"/>
          <p:nvPr>
            <p:ph idx="1" type="body"/>
          </p:nvPr>
        </p:nvSpPr>
        <p:spPr>
          <a:xfrm>
            <a:off x="311699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AutoNum type="arabicPeriod"/>
            </a:pP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git clone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&lt;link&gt;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AutoNum type="arabicPeriod"/>
            </a:pP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git add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&lt;file(s) you are modifying&gt;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make your changes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AutoNum type="arabicPeriod"/>
            </a:pP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git commit -m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“&lt;message&gt;”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AutoNum type="arabicPeriod"/>
            </a:pP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git push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use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git status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before, after, and throughout to keep track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f8e42ad424_0_55"/>
          <p:cNvSpPr txBox="1"/>
          <p:nvPr>
            <p:ph type="title"/>
          </p:nvPr>
        </p:nvSpPr>
        <p:spPr>
          <a:xfrm>
            <a:off x="311699" y="2150849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US" sz="6000">
                <a:latin typeface="Roboto"/>
                <a:ea typeface="Roboto"/>
                <a:cs typeface="Roboto"/>
                <a:sym typeface="Roboto"/>
              </a:rPr>
              <a:t>Time to Practice!</a:t>
            </a:r>
            <a:endParaRPr b="1" sz="6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19"/>
              <a:buFont typeface="Arial"/>
              <a:buNone/>
            </a:pPr>
            <a:r>
              <a:rPr b="1" lang="en-US" sz="2419">
                <a:latin typeface="Roboto"/>
                <a:ea typeface="Roboto"/>
                <a:cs typeface="Roboto"/>
                <a:sym typeface="Roboto"/>
              </a:rPr>
              <a:t>Practice</a:t>
            </a:r>
            <a:endParaRPr b="1" sz="25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Object oriented programing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lphaL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Create a rectangle class and methods to calculate the area and compare two rectangles.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lphaL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Create the rectangle instances, and call the methods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2.    Git : Commit code after each method and push to GitHub in the end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lphaLcPeriod"/>
            </a:pPr>
            <a:r>
              <a:rPr lang="en-US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Please commit </a:t>
            </a:r>
            <a:r>
              <a:rPr lang="en-US" u="sng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at least 4 times</a:t>
            </a:r>
            <a:r>
              <a:rPr lang="en-US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while working on your project; you might commit each time you finish writing a new function or method.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6c2704d63_2_0"/>
          <p:cNvSpPr txBox="1"/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0"/>
              <a:buFont typeface="Avenir"/>
              <a:buNone/>
            </a:pPr>
            <a:r>
              <a:rPr b="1" lang="en-US" sz="2240">
                <a:latin typeface="Roboto"/>
                <a:ea typeface="Roboto"/>
                <a:cs typeface="Roboto"/>
                <a:sym typeface="Roboto"/>
              </a:rPr>
              <a:t>Discussion 3 Assignment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g3b6c2704d63_2_0"/>
          <p:cNvSpPr txBox="1"/>
          <p:nvPr>
            <p:ph idx="1" type="body"/>
          </p:nvPr>
        </p:nvSpPr>
        <p:spPr>
          <a:xfrm>
            <a:off x="311699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Roboto"/>
                <a:ea typeface="Roboto"/>
                <a:cs typeface="Roboto"/>
                <a:sym typeface="Roboto"/>
              </a:rPr>
              <a:t>Accept the github classroom assignment and clone the repo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https://classroom.github.com/a/XsM1x4Qd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Roboto"/>
                <a:ea typeface="Roboto"/>
                <a:cs typeface="Roboto"/>
                <a:sym typeface="Roboto"/>
              </a:rPr>
              <a:t>If you are having issues: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Canvas Files -&gt; Discussions -&gt; </a:t>
            </a:r>
            <a:endParaRPr sz="24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Discussion 3 -&gt; Discussion3.py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f869659c20_0_0"/>
          <p:cNvSpPr txBox="1"/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1428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Rectangle class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g1f869659c20_0_0"/>
          <p:cNvSpPr txBox="1"/>
          <p:nvPr>
            <p:ph idx="1" type="body"/>
          </p:nvPr>
        </p:nvSpPr>
        <p:spPr>
          <a:xfrm>
            <a:off x="311699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Problem 1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. Create the constructor "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" method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with arguments 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(an integer), 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(an integer)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Both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It sets an instance variable, "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" to the passed argument, width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Both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It sets an instance variable, "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" to the passed argument, height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Problem 2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. Create the "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__str__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" method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It returns a string, "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A rectangle with width &lt;width&gt; and height &lt;height&gt;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"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for example, "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A rectangle with width 3 and height 6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"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869659c20_0_7"/>
          <p:cNvSpPr txBox="1"/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1428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Rectangle class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g1f869659c20_0_7"/>
          <p:cNvSpPr txBox="1"/>
          <p:nvPr>
            <p:ph idx="1" type="body"/>
          </p:nvPr>
        </p:nvSpPr>
        <p:spPr>
          <a:xfrm>
            <a:off x="311700" y="1152475"/>
            <a:ext cx="5588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Problem 3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. Create the "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area_calculator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" method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It returns the area of the rectangle (float)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Area of rectangle = length × width.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Problem 4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. Create the "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__eq__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" method with two arguments: </a:t>
            </a:r>
            <a:r>
              <a:rPr b="1" lang="en-US"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lang="en-US">
                <a:latin typeface="Roboto"/>
                <a:ea typeface="Roboto"/>
                <a:cs typeface="Roboto"/>
                <a:sym typeface="Roboto"/>
              </a:rPr>
              <a:t>other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(an object)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It returns a boolean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if the two rectangles have the same width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   and the same height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otherwise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g1f869659c20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3828" y="1342075"/>
            <a:ext cx="2929525" cy="271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869659c20_0_12"/>
          <p:cNvSpPr txBox="1"/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1428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Sample output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g1f869659c20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938" y="1138613"/>
            <a:ext cx="6742124" cy="286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8aa90388a4_0_9"/>
          <p:cNvSpPr txBox="1"/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1428"/>
              <a:buNone/>
            </a:pPr>
            <a:r>
              <a:t/>
            </a:r>
            <a:endParaRPr/>
          </a:p>
        </p:txBody>
      </p:sp>
      <p:sp>
        <p:nvSpPr>
          <p:cNvPr id="129" name="Google Shape;129;g28aa90388a4_0_9"/>
          <p:cNvSpPr txBox="1"/>
          <p:nvPr>
            <p:ph idx="1" type="body"/>
          </p:nvPr>
        </p:nvSpPr>
        <p:spPr>
          <a:xfrm>
            <a:off x="311699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0" name="Google Shape;130;g28aa90388a4_0_9"/>
          <p:cNvSpPr txBox="1"/>
          <p:nvPr/>
        </p:nvSpPr>
        <p:spPr>
          <a:xfrm>
            <a:off x="311699" y="2360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Additional Tips about Git &amp; Terminal</a:t>
            </a:r>
            <a:endParaRPr b="1" i="0" sz="3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fff6df6aca_1_21"/>
          <p:cNvSpPr txBox="1"/>
          <p:nvPr>
            <p:ph type="title"/>
          </p:nvPr>
        </p:nvSpPr>
        <p:spPr>
          <a:xfrm>
            <a:off x="311699" y="339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1428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The Terminal  - Command Line Interface (CLI)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g2fff6df6aca_1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950" y="1017925"/>
            <a:ext cx="2736175" cy="175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2fff6df6aca_1_21"/>
          <p:cNvPicPr preferRelativeResize="0"/>
          <p:nvPr/>
        </p:nvPicPr>
        <p:blipFill rotWithShape="1">
          <a:blip r:embed="rId4">
            <a:alphaModFix/>
          </a:blip>
          <a:srcRect b="0" l="0" r="0" t="1390"/>
          <a:stretch/>
        </p:blipFill>
        <p:spPr>
          <a:xfrm>
            <a:off x="378950" y="2973900"/>
            <a:ext cx="2736176" cy="176698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8" name="Google Shape;138;g2fff6df6aca_1_21"/>
          <p:cNvSpPr txBox="1"/>
          <p:nvPr/>
        </p:nvSpPr>
        <p:spPr>
          <a:xfrm>
            <a:off x="3489375" y="4543500"/>
            <a:ext cx="34209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Laptop Terminal</a:t>
            </a:r>
            <a:endParaRPr b="0" i="0" sz="1800" u="none" cap="none" strike="noStrike">
              <a:solidFill>
                <a:srgbClr val="5858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2fff6df6aca_1_21"/>
          <p:cNvPicPr preferRelativeResize="0"/>
          <p:nvPr/>
        </p:nvPicPr>
        <p:blipFill rotWithShape="1">
          <a:blip r:embed="rId5">
            <a:alphaModFix/>
          </a:blip>
          <a:srcRect b="0" l="0" r="30794" t="12480"/>
          <a:stretch/>
        </p:blipFill>
        <p:spPr>
          <a:xfrm>
            <a:off x="4361700" y="1017925"/>
            <a:ext cx="3961325" cy="277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7f2acdfc71_0_15"/>
          <p:cNvSpPr txBox="1"/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1428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Basic Commands - Try it on your terminal!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5" name="Google Shape;145;g27f2acdfc71_0_15"/>
          <p:cNvGraphicFramePr/>
          <p:nvPr/>
        </p:nvGraphicFramePr>
        <p:xfrm>
          <a:off x="952500" y="15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{6DF8066E-9D5C-4454-8B6A-CDA5B02C960D}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GUI 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CLI Command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Example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* current folder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pwd</a:t>
                      </a:r>
                      <a:endParaRPr sz="1400" u="none" cap="none" strike="noStrik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pwd</a:t>
                      </a:r>
                      <a:endParaRPr sz="1400" u="none" cap="none" strike="noStrik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* display folder content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ls </a:t>
                      </a:r>
                      <a:endParaRPr sz="1400" u="none" cap="none" strike="noStrik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ls</a:t>
                      </a:r>
                      <a:endParaRPr sz="1400" u="none" cap="none" strike="noStrik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navigate/ change location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cd </a:t>
                      </a:r>
                      <a:endParaRPr sz="1400" u="none" cap="none" strike="noStrik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cd SI201</a:t>
                      </a:r>
                      <a:endParaRPr sz="1400" u="none" cap="none" strike="noStrik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make a new folder 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mkdir </a:t>
                      </a:r>
                      <a:endParaRPr sz="1400" u="none" cap="none" strike="noStrik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mkdir my_new_folder</a:t>
                      </a:r>
                      <a:endParaRPr sz="1400" u="none" cap="none" strike="noStrik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7f2acdfc71_0_28"/>
          <p:cNvSpPr txBox="1"/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1428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Paths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1" name="Google Shape;151;g27f2acdfc71_0_28"/>
          <p:cNvSpPr/>
          <p:nvPr/>
        </p:nvSpPr>
        <p:spPr>
          <a:xfrm>
            <a:off x="5026325" y="1715425"/>
            <a:ext cx="4117800" cy="15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Absolute path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Path from root directory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cd /users/Matty/Documents/SI201/week3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Path from home directory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cd ~/Documents/SI201/week3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27f2acdfc71_0_28"/>
          <p:cNvSpPr txBox="1"/>
          <p:nvPr/>
        </p:nvSpPr>
        <p:spPr>
          <a:xfrm>
            <a:off x="353525" y="963425"/>
            <a:ext cx="65964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takes a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as an argument of which there are two kinds: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g27f2acdfc71_0_28"/>
          <p:cNvSpPr txBox="1"/>
          <p:nvPr/>
        </p:nvSpPr>
        <p:spPr>
          <a:xfrm>
            <a:off x="2311325" y="1715425"/>
            <a:ext cx="3002700" cy="2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Relative path</a:t>
            </a:r>
            <a:b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you are in "SI201"</a:t>
            </a:r>
            <a:b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cd week3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you are in "Matty"</a:t>
            </a:r>
            <a:b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cd Documents/SI201/week3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you are in “week2”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cd ../week3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4" name="Google Shape;154;g27f2acdfc71_0_28"/>
          <p:cNvSpPr txBox="1"/>
          <p:nvPr/>
        </p:nvSpPr>
        <p:spPr>
          <a:xfrm>
            <a:off x="7195550" y="59625"/>
            <a:ext cx="1698600" cy="11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Special Characters:</a:t>
            </a:r>
            <a:endParaRPr b="1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current directory =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 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parent directory =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..</a:t>
            </a: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home directory =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~ 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root directory =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Folder outline" id="155" name="Google Shape;155;g27f2acdfc71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8790" y="1319706"/>
            <a:ext cx="416213" cy="416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lder outline" id="156" name="Google Shape;156;g27f2acdfc71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8789" y="1782099"/>
            <a:ext cx="416213" cy="416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lder outline" id="157" name="Google Shape;157;g27f2acdfc71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8788" y="2244492"/>
            <a:ext cx="416213" cy="416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lder outline" id="158" name="Google Shape;158;g27f2acdfc71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8788" y="2706885"/>
            <a:ext cx="416213" cy="41621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27f2acdfc71_0_28"/>
          <p:cNvSpPr txBox="1"/>
          <p:nvPr/>
        </p:nvSpPr>
        <p:spPr>
          <a:xfrm>
            <a:off x="1218787" y="1634321"/>
            <a:ext cx="45720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27f2acdfc71_0_28"/>
          <p:cNvSpPr txBox="1"/>
          <p:nvPr/>
        </p:nvSpPr>
        <p:spPr>
          <a:xfrm>
            <a:off x="1198292" y="2096714"/>
            <a:ext cx="45720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Matty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27f2acdfc71_0_28"/>
          <p:cNvSpPr txBox="1"/>
          <p:nvPr/>
        </p:nvSpPr>
        <p:spPr>
          <a:xfrm>
            <a:off x="1071009" y="2565231"/>
            <a:ext cx="7112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27f2acdfc71_0_28"/>
          <p:cNvSpPr txBox="1"/>
          <p:nvPr/>
        </p:nvSpPr>
        <p:spPr>
          <a:xfrm>
            <a:off x="1182420" y="3015376"/>
            <a:ext cx="45258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SI201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g27f2acdfc71_0_28"/>
          <p:cNvCxnSpPr/>
          <p:nvPr/>
        </p:nvCxnSpPr>
        <p:spPr>
          <a:xfrm flipH="1">
            <a:off x="738499" y="3180833"/>
            <a:ext cx="668190" cy="3377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g27f2acdfc71_0_28"/>
          <p:cNvCxnSpPr>
            <a:endCxn id="162" idx="2"/>
          </p:cNvCxnSpPr>
          <p:nvPr/>
        </p:nvCxnSpPr>
        <p:spPr>
          <a:xfrm flipH="1" rot="10800000">
            <a:off x="1030111" y="3230820"/>
            <a:ext cx="378600" cy="28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g27f2acdfc71_0_28"/>
          <p:cNvCxnSpPr>
            <a:endCxn id="162" idx="2"/>
          </p:cNvCxnSpPr>
          <p:nvPr/>
        </p:nvCxnSpPr>
        <p:spPr>
          <a:xfrm rot="10800000">
            <a:off x="1408711" y="3230820"/>
            <a:ext cx="246900" cy="28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Folder outline" id="166" name="Google Shape;166;g27f2acdfc71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047" y="3475888"/>
            <a:ext cx="416213" cy="416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lder outline" id="167" name="Google Shape;167;g27f2acdfc71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762" y="3493169"/>
            <a:ext cx="416213" cy="416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lder outline" id="168" name="Google Shape;168;g27f2acdfc71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6234" y="3493169"/>
            <a:ext cx="416213" cy="41621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27f2acdfc71_0_28"/>
          <p:cNvSpPr txBox="1"/>
          <p:nvPr/>
        </p:nvSpPr>
        <p:spPr>
          <a:xfrm>
            <a:off x="436392" y="3813593"/>
            <a:ext cx="4795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week1</a:t>
            </a:r>
            <a:endParaRPr/>
          </a:p>
        </p:txBody>
      </p:sp>
      <p:sp>
        <p:nvSpPr>
          <p:cNvPr id="170" name="Google Shape;170;g27f2acdfc71_0_28"/>
          <p:cNvSpPr txBox="1"/>
          <p:nvPr/>
        </p:nvSpPr>
        <p:spPr>
          <a:xfrm>
            <a:off x="879184" y="3813593"/>
            <a:ext cx="4795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week2</a:t>
            </a:r>
            <a:endParaRPr/>
          </a:p>
        </p:txBody>
      </p:sp>
      <p:sp>
        <p:nvSpPr>
          <p:cNvPr id="171" name="Google Shape;171;g27f2acdfc71_0_28"/>
          <p:cNvSpPr txBox="1"/>
          <p:nvPr/>
        </p:nvSpPr>
        <p:spPr>
          <a:xfrm>
            <a:off x="1421604" y="3813593"/>
            <a:ext cx="4795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week3</a:t>
            </a:r>
            <a:endParaRPr/>
          </a:p>
        </p:txBody>
      </p:sp>
      <p:pic>
        <p:nvPicPr>
          <p:cNvPr descr="Paper outline" id="172" name="Google Shape;172;g27f2acdfc71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7606" y="4107286"/>
            <a:ext cx="376767" cy="3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27f2acdfc71_0_28"/>
          <p:cNvSpPr txBox="1"/>
          <p:nvPr/>
        </p:nvSpPr>
        <p:spPr>
          <a:xfrm>
            <a:off x="1218787" y="4417430"/>
            <a:ext cx="90596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HW3_starter.py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bb23f10ebf_0_5"/>
          <p:cNvSpPr txBox="1"/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79" name="Google Shape;179;gbb23f10ebf_0_5"/>
          <p:cNvSpPr txBox="1"/>
          <p:nvPr>
            <p:ph idx="1" type="body"/>
          </p:nvPr>
        </p:nvSpPr>
        <p:spPr>
          <a:xfrm>
            <a:off x="311699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0" name="Google Shape;180;gbb23f10ebf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641"/>
            <a:ext cx="9144000" cy="4826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bb23f10ebf_0_0"/>
          <p:cNvSpPr txBox="1"/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6" name="Google Shape;186;gbb23f10ebf_0_0"/>
          <p:cNvSpPr txBox="1"/>
          <p:nvPr>
            <p:ph idx="1" type="body"/>
          </p:nvPr>
        </p:nvSpPr>
        <p:spPr>
          <a:xfrm>
            <a:off x="311699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7" name="Google Shape;187;gbb23f10eb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50" y="84725"/>
            <a:ext cx="8806399" cy="50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f10f51d7c8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409933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f10f51d7c8_1_0"/>
          <p:cNvSpPr/>
          <p:nvPr/>
        </p:nvSpPr>
        <p:spPr>
          <a:xfrm>
            <a:off x="1482200" y="1806125"/>
            <a:ext cx="6566700" cy="765600"/>
          </a:xfrm>
          <a:prstGeom prst="rect">
            <a:avLst/>
          </a:prstGeom>
          <a:noFill/>
          <a:ln cap="flat" cmpd="sng" w="7620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gf10f51d7c8_1_0"/>
          <p:cNvGrpSpPr/>
          <p:nvPr/>
        </p:nvGrpSpPr>
        <p:grpSpPr>
          <a:xfrm>
            <a:off x="5913150" y="3450000"/>
            <a:ext cx="1657500" cy="566100"/>
            <a:chOff x="5913150" y="3450000"/>
            <a:chExt cx="1657500" cy="566100"/>
          </a:xfrm>
        </p:grpSpPr>
        <p:sp>
          <p:nvSpPr>
            <p:cNvPr id="195" name="Google Shape;195;gf10f51d7c8_1_0"/>
            <p:cNvSpPr/>
            <p:nvPr/>
          </p:nvSpPr>
          <p:spPr>
            <a:xfrm>
              <a:off x="5913150" y="3450000"/>
              <a:ext cx="1657500" cy="5661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f10f51d7c8_1_0"/>
            <p:cNvSpPr txBox="1"/>
            <p:nvPr/>
          </p:nvSpPr>
          <p:spPr>
            <a:xfrm>
              <a:off x="6199650" y="3538650"/>
              <a:ext cx="13710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 clone</a:t>
              </a:r>
              <a:endParaRPr b="0" i="0" sz="14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